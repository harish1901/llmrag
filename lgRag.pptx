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57" r:id="rId4"/>
    <p:sldId id="258" r:id="rId5"/>
    <p:sldId id="259" r:id="rId6"/>
    <p:sldId id="260" r:id="rId7"/>
    <p:sldId id="261" r:id="rId8"/>
    <p:sldId id="263" r:id="rId9"/>
    <p:sldId id="272" r:id="rId10"/>
    <p:sldId id="264" r:id="rId11"/>
    <p:sldId id="266" r:id="rId12"/>
    <p:sldId id="267" r:id="rId13"/>
    <p:sldId id="265" r:id="rId14"/>
    <p:sldId id="268" r:id="rId15"/>
    <p:sldId id="273" r:id="rId16"/>
    <p:sldId id="262" r:id="rId17"/>
    <p:sldId id="269" r:id="rId18"/>
    <p:sldId id="270" r:id="rId19"/>
    <p:sldId id="271" r:id="rId20"/>
    <p:sldId id="274" r:id="rId21"/>
    <p:sldId id="27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946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F49F0-0B11-9747-B6D1-9208695615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995733-C44A-2916-0F42-1E29F8ED40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BF941F-3A08-D6C1-00AD-4B63BC4C6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C3616-1024-4FBA-9A25-AAEA12EA6BE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6DEF2-0B92-F4E1-1327-2EB664F7F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76D09-5B59-4B93-930D-55A44107A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86205-7AF3-4B04-8B24-754130F35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77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F5779-A859-15E1-6648-693DC0DC5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CAA7A-04B4-EC3F-949A-99368645B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E9C900-DD08-34BB-18E3-BA03647B1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C3616-1024-4FBA-9A25-AAEA12EA6BE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F0AFC-2884-51B7-7B60-0C3FE2F90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FECF8-2E77-F4B1-2051-39A3318BF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86205-7AF3-4B04-8B24-754130F35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914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8950D-422C-2F8F-6C00-6885F8C4D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2C7536-6A8F-8E71-A0F0-958A037E80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14CB4-F462-96BE-99F0-CA70B30E1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C3616-1024-4FBA-9A25-AAEA12EA6BE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8E11F-D534-877D-F124-A6B5BE650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E8720-48D6-00A0-7BFD-1BB3AE106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86205-7AF3-4B04-8B24-754130F35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056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93F1C-BC18-F487-2533-19B480B39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75D0F-DC7A-2B4C-953E-78A8277457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BD8F6C-C518-5586-2A39-E230F204F1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6AA99D-9E21-1D9C-079F-0356213ED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C3616-1024-4FBA-9A25-AAEA12EA6BE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55CFD-10E4-D4E6-E290-CE1A3A9DB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6A20B4-0230-3E9F-86D5-F0AF3F1B3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86205-7AF3-4B04-8B24-754130F35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725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6F84E-9FAE-E34D-5BB0-B06D4FF98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00C896-6226-C180-1663-C7C4A018A4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67D799-3D0B-4F54-82C8-617EAA91F6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3BE4D9-590C-C5BC-1E7A-D048E9AE34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6874F9-64D3-4314-AC7C-9EE1F8A15A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D8BF73-AB12-82A5-93A1-9599D97AF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C3616-1024-4FBA-9A25-AAEA12EA6BE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E47F5F-1B2F-5ABA-F2DB-AF6FD6755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C9304E-2D8D-679B-DF5E-88EEAB899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86205-7AF3-4B04-8B24-754130F35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991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89EF4-E26E-20EE-4C9F-5EAF20E50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7AD5BF-AB31-114A-28DC-A7A13071B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C3616-1024-4FBA-9A25-AAEA12EA6BE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EC1E6D-60F2-5CE4-568A-6961065CC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4F5BC9-5F5F-1A00-D220-C54565B4E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86205-7AF3-4B04-8B24-754130F35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727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4DAE9B-A64A-A6D5-8E77-346D39B29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C3616-1024-4FBA-9A25-AAEA12EA6BE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23C885-2F80-6BC6-152F-36CE9CE14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1E3D8A-109A-7363-4247-2D38F09A5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86205-7AF3-4B04-8B24-754130F35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615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A2D45-B526-0EF0-6AEF-652458956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C7460-2CF9-7BBA-5CC6-9DDAA89982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83F5E4-5435-1BCC-DAE9-48CB99B9FA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AA6A3F-F6B8-23E7-1E6B-831B58619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C3616-1024-4FBA-9A25-AAEA12EA6BE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8DD49B-0B17-123F-AFE4-0C13AE434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5010F1-2704-0DD7-0CBC-B67DA7697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86205-7AF3-4B04-8B24-754130F35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374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B8DF7-D084-ECA5-7040-211DC8A61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7EFF75-BEB2-258A-D9F7-2ADBE66EF5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B0FC8B-B4A7-5000-1E3D-9A5AFFD9DE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4AC600-B5B5-BC92-6BE7-80567CA20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C3616-1024-4FBA-9A25-AAEA12EA6BE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A4CEEA-13D6-E01D-4637-2EA1BC693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1BA122-2BA6-0D77-00A0-A9C9B6BFB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86205-7AF3-4B04-8B24-754130F35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015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B32DC-2045-BAC4-2786-4EEA7F8E7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A16D9F-060E-F5EF-7BFC-E1AE0727DD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59B53-36A6-D66A-3F92-70E8F1734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C3616-1024-4FBA-9A25-AAEA12EA6BE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0DD52-976B-EE12-2C11-242B16C14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20A1D-E9B9-B989-C61E-9EA0D6309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86205-7AF3-4B04-8B24-754130F35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619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F68B9C-14D7-E8AA-1A52-D963BCF8FD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8C3CC4-0278-2FCB-73C9-F8D4643EEA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04664-F3AD-B2D2-A655-240D22D69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C3616-1024-4FBA-9A25-AAEA12EA6BE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3AAFDA-DBA8-C21A-FF23-B9CC88142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8D38FA-0BB8-E8B0-C989-B6C220061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86205-7AF3-4B04-8B24-754130F35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154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E3F53D-FF61-764E-2A4C-D7EEE258D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DFAE82-17B5-20B2-B7A9-F34DA486D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6262E-C121-8547-6373-7262FBD9DD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CC3616-1024-4FBA-9A25-AAEA12EA6BE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4D27FC-C2D1-BACB-7906-0CB3CD0D90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FBADFC-A729-A6B2-9E45-3CE84B2AEB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F86205-7AF3-4B04-8B24-754130F35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22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763A8-7B91-5FE2-9391-D0A2765FA6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solidFill>
            <a:schemeClr val="tx2">
              <a:lumMod val="75000"/>
              <a:lumOff val="25000"/>
            </a:schemeClr>
          </a:solidFill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LG Rag Agent</a:t>
            </a:r>
          </a:p>
        </p:txBody>
      </p:sp>
    </p:spTree>
    <p:extLst>
      <p:ext uri="{BB962C8B-B14F-4D97-AF65-F5344CB8AC3E}">
        <p14:creationId xmlns:p14="http://schemas.microsoft.com/office/powerpoint/2010/main" val="2288877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process&#10;&#10;AI-generated content may be incorrect.">
            <a:extLst>
              <a:ext uri="{FF2B5EF4-FFF2-40B4-BE49-F238E27FC236}">
                <a16:creationId xmlns:a16="http://schemas.microsoft.com/office/drawing/2014/main" id="{362886A2-B69A-1824-6E6F-B6338E67DC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6903" y="643466"/>
            <a:ext cx="8878193" cy="55710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238265-A9E7-9013-6555-BFD9783EE8A9}"/>
              </a:ext>
            </a:extLst>
          </p:cNvPr>
          <p:cNvSpPr txBox="1"/>
          <p:nvPr/>
        </p:nvSpPr>
        <p:spPr>
          <a:xfrm>
            <a:off x="4401178" y="3529576"/>
            <a:ext cx="1497205" cy="46166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gemini-embedding-001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BABF0C-C860-3B85-B224-BF256C2382CD}"/>
              </a:ext>
            </a:extLst>
          </p:cNvPr>
          <p:cNvSpPr txBox="1"/>
          <p:nvPr/>
        </p:nvSpPr>
        <p:spPr>
          <a:xfrm>
            <a:off x="2282651" y="5118890"/>
            <a:ext cx="1153886" cy="27699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chemeClr val="bg1"/>
                </a:solidFill>
              </a:rPr>
              <a:t>PGVec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DF89C7-BD04-62BC-5519-7D10BAD7F4C4}"/>
              </a:ext>
            </a:extLst>
          </p:cNvPr>
          <p:cNvSpPr txBox="1"/>
          <p:nvPr/>
        </p:nvSpPr>
        <p:spPr>
          <a:xfrm>
            <a:off x="8876043" y="2367316"/>
            <a:ext cx="1312985" cy="46166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gemini-2.5-flash-lite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E8584F-AAA1-9908-5AFC-184B1C6EA0F1}"/>
              </a:ext>
            </a:extLst>
          </p:cNvPr>
          <p:cNvSpPr txBox="1"/>
          <p:nvPr/>
        </p:nvSpPr>
        <p:spPr>
          <a:xfrm>
            <a:off x="8855946" y="3529575"/>
            <a:ext cx="1312985" cy="27699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Fast API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623AF1-1C10-A0DF-A27D-6BC4A162418C}"/>
              </a:ext>
            </a:extLst>
          </p:cNvPr>
          <p:cNvSpPr txBox="1"/>
          <p:nvPr/>
        </p:nvSpPr>
        <p:spPr>
          <a:xfrm>
            <a:off x="3145134" y="237736"/>
            <a:ext cx="6290269" cy="36933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Architecture</a:t>
            </a:r>
          </a:p>
        </p:txBody>
      </p:sp>
    </p:spTree>
    <p:extLst>
      <p:ext uri="{BB962C8B-B14F-4D97-AF65-F5344CB8AC3E}">
        <p14:creationId xmlns:p14="http://schemas.microsoft.com/office/powerpoint/2010/main" val="18407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82EFFA-075E-47CA-5F90-894D6C9E3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dirty="0"/>
              <a:t>Load Document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A39FC-D7A4-D7F1-5B1F-87255D119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/>
              <a:t>We have 2 PDF docs</a:t>
            </a:r>
          </a:p>
          <a:p>
            <a:endParaRPr lang="en-US" sz="200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8E1D725-4210-821B-3351-8EADBD0EA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764105"/>
            <a:ext cx="5150277" cy="31545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083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 error">
            <a:extLst>
              <a:ext uri="{FF2B5EF4-FFF2-40B4-BE49-F238E27FC236}">
                <a16:creationId xmlns:a16="http://schemas.microsoft.com/office/drawing/2014/main" id="{2D7F8B8B-DB43-7C24-7E3C-B0A3EE9902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8487" y="643466"/>
            <a:ext cx="8315026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475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6371BE-4724-019E-9967-30B2A45E8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Creating vector store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DEBEE6E-05A5-3C66-8E55-A399C8D49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066" y="2642616"/>
            <a:ext cx="5590363" cy="3605784"/>
          </a:xfrm>
          <a:prstGeom prst="rect">
            <a:avLst/>
          </a:prstGeom>
        </p:spPr>
      </p:pic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3DD1B3C-837E-F342-FB2E-354B16C1B0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54496" y="3119102"/>
            <a:ext cx="5614416" cy="265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578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4DA31A-2A68-A1B4-5DAC-B1F5B315F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2800" dirty="0"/>
              <a:t>Install </a:t>
            </a:r>
            <a:r>
              <a:rPr lang="en-US" sz="2800" dirty="0" err="1"/>
              <a:t>pgvec</a:t>
            </a:r>
            <a:endParaRPr lang="en-US" sz="2800" dirty="0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CA36440-29E7-C134-8A67-96BB5F12E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dirty="0"/>
              <a:t>https://www.postgresql.org/ftp/pgadmin/pgadmin4/v9.11/windows/</a:t>
            </a:r>
          </a:p>
        </p:txBody>
      </p:sp>
      <p:pic>
        <p:nvPicPr>
          <p:cNvPr id="5" name="Content Placeholder 4" descr="A computer screen shot of a black screen&#10;&#10;AI-generated content may be incorrect.">
            <a:extLst>
              <a:ext uri="{FF2B5EF4-FFF2-40B4-BE49-F238E27FC236}">
                <a16:creationId xmlns:a16="http://schemas.microsoft.com/office/drawing/2014/main" id="{051495A9-0B44-EDDF-6F52-C0E1CD051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4918" y="640080"/>
            <a:ext cx="5902475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845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358C11-C233-EEDF-BC5B-703C1ADC0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6BB54-B937-DABB-EF27-C2D637B1E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025303" cy="5546047"/>
          </a:xfrm>
        </p:spPr>
        <p:txBody>
          <a:bodyPr anchor="ctr">
            <a:normAutofit/>
          </a:bodyPr>
          <a:lstStyle/>
          <a:p>
            <a:r>
              <a:rPr lang="en-US" sz="2000" dirty="0" err="1"/>
              <a:t>vector_store.similarity_search</a:t>
            </a:r>
            <a:r>
              <a:rPr lang="en-US" sz="2000" dirty="0"/>
              <a:t>("climate change", filter={"source": "report.pdf"})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574BD40-F2CB-AA93-35F2-79C117247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876" y="473654"/>
            <a:ext cx="2369028" cy="5922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143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E61B563-A4B2-5783-81AF-A2A053D747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5352229"/>
            <a:ext cx="12192000" cy="1519356"/>
            <a:chOff x="0" y="-29768"/>
            <a:chExt cx="12202174" cy="151935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0633BBC-8C60-7DC4-F0CC-CE32251096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CC98078-F2A2-725C-ED61-320B63B695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1CD4C03-24F0-57A9-530E-8F2ABABDC5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880884" y="-2910652"/>
              <a:ext cx="1519356" cy="7281123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CF66318-E95A-BC44-1ACE-0B036DDD1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9902"/>
            <a:ext cx="6924026" cy="91397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Vector store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C7FC9A2-C320-8F35-D22F-83209F7349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1760"/>
          <a:stretch>
            <a:fillRect/>
          </a:stretch>
        </p:blipFill>
        <p:spPr>
          <a:xfrm>
            <a:off x="1" y="10"/>
            <a:ext cx="12191998" cy="5352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981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CE6420F-8C0F-08AF-E4DA-B9D1118A33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31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975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E15472-3E43-6845-3915-6BE335ADE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endParaRPr lang="en-US" sz="6600"/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">
            <a:extLst>
              <a:ext uri="{FF2B5EF4-FFF2-40B4-BE49-F238E27FC236}">
                <a16:creationId xmlns:a16="http://schemas.microsoft.com/office/drawing/2014/main" id="{55847B10-2FD6-D880-E648-DA9C1D4BC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507" y="2642616"/>
            <a:ext cx="5025482" cy="3605784"/>
          </a:xfrm>
          <a:prstGeom prst="rect">
            <a:avLst/>
          </a:prstGeom>
        </p:spPr>
      </p:pic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C1344A8-459F-CAC0-4225-17151A50CF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54496" y="2929616"/>
            <a:ext cx="5614416" cy="3031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052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E72ADC-A14D-2C91-246D-19963465C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endParaRPr lang="en-US" sz="52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 descr="A screenshot of a computer error&#10;&#10;AI-generated content may be incorrect.">
            <a:extLst>
              <a:ext uri="{FF2B5EF4-FFF2-40B4-BE49-F238E27FC236}">
                <a16:creationId xmlns:a16="http://schemas.microsoft.com/office/drawing/2014/main" id="{538C8178-9541-84CB-E89F-86BDC03992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8327" b="-1"/>
          <a:stretch>
            <a:fillRect/>
          </a:stretch>
        </p:blipFill>
        <p:spPr>
          <a:xfrm>
            <a:off x="198741" y="2410448"/>
            <a:ext cx="5803323" cy="3890357"/>
          </a:xfrm>
          <a:prstGeom prst="rect">
            <a:avLst/>
          </a:prstGeom>
        </p:spPr>
      </p:pic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79DBF67-C013-3FDC-F949-A64706D2FB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108" b="1"/>
          <a:stretch>
            <a:fillRect/>
          </a:stretch>
        </p:blipFill>
        <p:spPr>
          <a:xfrm>
            <a:off x="6189934" y="2410448"/>
            <a:ext cx="5803323" cy="389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12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305FECD-9A8C-124A-B236-1FAB4A7E33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5192183"/>
              </p:ext>
            </p:extLst>
          </p:nvPr>
        </p:nvGraphicFramePr>
        <p:xfrm>
          <a:off x="643467" y="703195"/>
          <a:ext cx="10905066" cy="5451609"/>
        </p:xfrm>
        <a:graphic>
          <a:graphicData uri="http://schemas.openxmlformats.org/drawingml/2006/table">
            <a:tbl>
              <a:tblPr/>
              <a:tblGrid>
                <a:gridCol w="10905066">
                  <a:extLst>
                    <a:ext uri="{9D8B030D-6E8A-4147-A177-3AD203B41FA5}">
                      <a16:colId xmlns:a16="http://schemas.microsoft.com/office/drawing/2014/main" val="152094809"/>
                    </a:ext>
                  </a:extLst>
                </a:gridCol>
              </a:tblGrid>
              <a:tr h="5105021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400" b="0" i="0">
                          <a:effectLst/>
                          <a:latin typeface="Segoe UI" panose="020B0502040204020203" pitchFamily="34" charset="0"/>
                        </a:rPr>
                        <a:t>Great question! When you call:</a:t>
                      </a:r>
                    </a:p>
                    <a:p>
                      <a:pPr rtl="0" fontAlgn="t">
                        <a:lnSpc>
                          <a:spcPts val="1500"/>
                        </a:lnSpc>
                        <a:buNone/>
                      </a:pPr>
                      <a:r>
                        <a:rPr lang="en-US" sz="1400" b="0" i="0">
                          <a:effectLst/>
                          <a:latin typeface="Segoe UI" panose="020B0502040204020203" pitchFamily="34" charset="0"/>
                        </a:rPr>
                        <a:t>Python</a:t>
                      </a:r>
                    </a:p>
                    <a:p>
                      <a:pPr algn="l" rtl="0" fontAlgn="t">
                        <a:lnSpc>
                          <a:spcPts val="1500"/>
                        </a:lnSpc>
                        <a:buNone/>
                      </a:pPr>
                      <a:r>
                        <a:rPr lang="en-US" sz="1400" b="0" i="0">
                          <a:effectLst/>
                          <a:latin typeface="Segoe UI" panose="020B0502040204020203" pitchFamily="34" charset="0"/>
                        </a:rPr>
                        <a:t>results = vector_store.similarity_search("How to install french door", k=2)</a:t>
                      </a:r>
                      <a:br>
                        <a:rPr lang="en-US" sz="1400" b="0" i="0">
                          <a:effectLst/>
                          <a:latin typeface="Segoe UI" panose="020B0502040204020203" pitchFamily="34" charset="0"/>
                        </a:rPr>
                      </a:br>
                      <a:endParaRPr lang="en-US" sz="1400" b="0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rtl="0" fontAlgn="t">
                        <a:lnSpc>
                          <a:spcPts val="1500"/>
                        </a:lnSpc>
                        <a:buNone/>
                      </a:pPr>
                      <a:r>
                        <a:rPr lang="en-US" sz="1400" b="0" i="0">
                          <a:effectLst/>
                          <a:latin typeface="Segoe UI" panose="020B0502040204020203" pitchFamily="34" charset="0"/>
                        </a:rPr>
                        <a:t>Show more lines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400" b="0" i="0">
                          <a:effectLst/>
                          <a:latin typeface="Segoe UI" panose="020B0502040204020203" pitchFamily="34" charset="0"/>
                        </a:rPr>
                        <a:t>LangChain </a:t>
                      </a:r>
                      <a:r>
                        <a:rPr lang="en-US" sz="1400" b="1" i="0">
                          <a:effectLst/>
                          <a:latin typeface="Segoe UI" panose="020B0502040204020203" pitchFamily="34" charset="0"/>
                        </a:rPr>
                        <a:t>does query the backend PostgreSQL database</a:t>
                      </a:r>
                      <a:r>
                        <a:rPr lang="en-US" sz="1400" b="0" i="0">
                          <a:effectLst/>
                          <a:latin typeface="Segoe UI" panose="020B0502040204020203" pitchFamily="34" charset="0"/>
                        </a:rPr>
                        <a:t> where your embeddings are stored. Here’s what happens step by step: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1400" b="1" i="0">
                          <a:effectLst/>
                          <a:latin typeface="Segoe UI" panose="020B0502040204020203" pitchFamily="34" charset="0"/>
                        </a:rPr>
                        <a:t>Convert Query to Embedding</a:t>
                      </a:r>
                      <a:br>
                        <a:rPr lang="en-US" sz="14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1400" b="0" i="0">
                          <a:effectLst/>
                          <a:latin typeface="Segoe UI" panose="020B0502040204020203" pitchFamily="34" charset="0"/>
                        </a:rPr>
                        <a:t>Your text query </a:t>
                      </a:r>
                      <a:r>
                        <a:rPr lang="en-US" sz="1400" b="0" i="0">
                          <a:effectLst/>
                          <a:latin typeface="Courier New" panose="02070309020205020404" pitchFamily="49" charset="0"/>
                        </a:rPr>
                        <a:t>"How to install french door"</a:t>
                      </a:r>
                      <a:r>
                        <a:rPr lang="en-US" sz="1400" b="0" i="0">
                          <a:effectLst/>
                          <a:latin typeface="Segoe UI" panose="020B0502040204020203" pitchFamily="34" charset="0"/>
                        </a:rPr>
                        <a:t> is converted into an embedding using </a:t>
                      </a:r>
                      <a:r>
                        <a:rPr lang="en-US" sz="1400" b="0" i="0">
                          <a:effectLst/>
                          <a:latin typeface="Courier New" panose="02070309020205020404" pitchFamily="49" charset="0"/>
                        </a:rPr>
                        <a:t>GoogleGenerativeAIEmbeddings</a:t>
                      </a:r>
                      <a:r>
                        <a:rPr lang="en-US" sz="1400" b="0" i="0">
                          <a:effectLst/>
                          <a:latin typeface="Segoe UI" panose="020B0502040204020203" pitchFamily="34" charset="0"/>
                        </a:rPr>
                        <a:t>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1400" b="1" i="0">
                          <a:effectLst/>
                          <a:latin typeface="Segoe UI" panose="020B0502040204020203" pitchFamily="34" charset="0"/>
                        </a:rPr>
                        <a:t>Send Query to PostgreSQL</a:t>
                      </a:r>
                      <a:br>
                        <a:rPr lang="en-US" sz="14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1400" b="0" i="0">
                          <a:effectLst/>
                          <a:latin typeface="Segoe UI" panose="020B0502040204020203" pitchFamily="34" charset="0"/>
                        </a:rPr>
                        <a:t>LangChain’s </a:t>
                      </a:r>
                      <a:r>
                        <a:rPr lang="en-US" sz="1400" b="0" i="0">
                          <a:effectLst/>
                          <a:latin typeface="Courier New" panose="02070309020205020404" pitchFamily="49" charset="0"/>
                        </a:rPr>
                        <a:t>PGVector</a:t>
                      </a:r>
                      <a:r>
                        <a:rPr lang="en-US" sz="1400" b="0" i="0">
                          <a:effectLst/>
                          <a:latin typeface="Segoe UI" panose="020B0502040204020203" pitchFamily="34" charset="0"/>
                        </a:rPr>
                        <a:t> uses SQL under the hood to perform a similarity search against the </a:t>
                      </a:r>
                      <a:r>
                        <a:rPr lang="en-US" sz="1400" b="0" i="0">
                          <a:effectLst/>
                          <a:latin typeface="Courier New" panose="02070309020205020404" pitchFamily="49" charset="0"/>
                        </a:rPr>
                        <a:t>embedding</a:t>
                      </a:r>
                      <a:r>
                        <a:rPr lang="en-US" sz="1400" b="0" i="0">
                          <a:effectLst/>
                          <a:latin typeface="Segoe UI" panose="020B0502040204020203" pitchFamily="34" charset="0"/>
                        </a:rPr>
                        <a:t> column in your </a:t>
                      </a:r>
                      <a:r>
                        <a:rPr lang="en-US" sz="1400" b="0" i="0">
                          <a:effectLst/>
                          <a:latin typeface="Courier New" panose="02070309020205020404" pitchFamily="49" charset="0"/>
                        </a:rPr>
                        <a:t>lgvec</a:t>
                      </a:r>
                      <a:r>
                        <a:rPr lang="en-US" sz="1400" b="0" i="0">
                          <a:effectLst/>
                          <a:latin typeface="Segoe UI" panose="020B0502040204020203" pitchFamily="34" charset="0"/>
                        </a:rPr>
                        <a:t> table.</a:t>
                      </a:r>
                    </a:p>
                    <a:p>
                      <a:pPr marL="742950" lvl="1" indent="-285750"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1400" b="0" i="0">
                          <a:effectLst/>
                          <a:latin typeface="Segoe UI" panose="020B0502040204020203" pitchFamily="34" charset="0"/>
                        </a:rPr>
                        <a:t>It uses the </a:t>
                      </a:r>
                      <a:r>
                        <a:rPr lang="en-US" sz="1400" b="0" i="0">
                          <a:effectLst/>
                          <a:latin typeface="Courier New" panose="02070309020205020404" pitchFamily="49" charset="0"/>
                        </a:rPr>
                        <a:t>&lt;=&gt;</a:t>
                      </a:r>
                      <a:r>
                        <a:rPr lang="en-US" sz="1400" b="0" i="0">
                          <a:effectLst/>
                          <a:latin typeface="Segoe UI" panose="020B0502040204020203" pitchFamily="34" charset="0"/>
                        </a:rPr>
                        <a:t> operator for distance comparison (cosine similarity, because you set </a:t>
                      </a:r>
                      <a:r>
                        <a:rPr lang="en-US" sz="1400" b="0" i="0">
                          <a:effectLst/>
                          <a:latin typeface="Courier New" panose="02070309020205020404" pitchFamily="49" charset="0"/>
                        </a:rPr>
                        <a:t>vector_cosine_ops</a:t>
                      </a:r>
                      <a:r>
                        <a:rPr lang="en-US" sz="1400" b="0" i="0">
                          <a:effectLst/>
                          <a:latin typeface="Segoe UI" panose="020B0502040204020203" pitchFamily="34" charset="0"/>
                        </a:rPr>
                        <a:t> when indexing).</a:t>
                      </a:r>
                    </a:p>
                    <a:p>
                      <a:pPr marL="742950" lvl="1" indent="-285750"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1400" b="0" i="0">
                          <a:effectLst/>
                          <a:latin typeface="Segoe UI" panose="020B0502040204020203" pitchFamily="34" charset="0"/>
                        </a:rPr>
                        <a:t>The query looks like: </a:t>
                      </a:r>
                    </a:p>
                    <a:p>
                      <a:pPr marL="742950" lvl="1" indent="-285750" rtl="0"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1400" b="0" i="0">
                          <a:effectLst/>
                          <a:latin typeface="Segoe UI" panose="020B0502040204020203" pitchFamily="34" charset="0"/>
                        </a:rPr>
                        <a:t>SQL</a:t>
                      </a:r>
                    </a:p>
                    <a:p>
                      <a:pPr marL="742950" lvl="1" indent="-285750" algn="l" rtl="0"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1400" b="0" i="0">
                          <a:effectLst/>
                          <a:latin typeface="Segoe UI" panose="020B0502040204020203" pitchFamily="34" charset="0"/>
                        </a:rPr>
                        <a:t>SELECT * FROM lgvec</a:t>
                      </a:r>
                      <a:br>
                        <a:rPr lang="en-US" sz="1400" b="0" i="0">
                          <a:effectLst/>
                          <a:latin typeface="Segoe UI" panose="020B0502040204020203" pitchFamily="34" charset="0"/>
                        </a:rPr>
                      </a:br>
                      <a:endParaRPr lang="en-US" sz="1400" b="0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742950" lvl="1" indent="-285750" algn="l" rtl="0"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1400" b="0" i="0">
                          <a:effectLst/>
                          <a:latin typeface="Segoe UI" panose="020B0502040204020203" pitchFamily="34" charset="0"/>
                        </a:rPr>
                        <a:t>ORDER BY embedding &lt;=&gt; '[query_vector]'</a:t>
                      </a:r>
                      <a:br>
                        <a:rPr lang="en-US" sz="1400" b="0" i="0">
                          <a:effectLst/>
                          <a:latin typeface="Segoe UI" panose="020B0502040204020203" pitchFamily="34" charset="0"/>
                        </a:rPr>
                      </a:br>
                      <a:endParaRPr lang="en-US" sz="1400" b="0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742950" lvl="1" indent="-285750" algn="l" rtl="0"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br>
                        <a:rPr lang="en-US" sz="1400" b="0" i="0">
                          <a:effectLst/>
                          <a:latin typeface="Segoe UI" panose="020B0502040204020203" pitchFamily="34" charset="0"/>
                        </a:rPr>
                      </a:br>
                      <a:endParaRPr lang="en-US" sz="1400" b="0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742950" lvl="1" indent="-285750" rtl="0"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1400" b="0" i="0">
                          <a:effectLst/>
                          <a:latin typeface="Segoe UI" panose="020B0502040204020203" pitchFamily="34" charset="0"/>
                        </a:rPr>
                        <a:t>Show more lines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1400" b="1" i="0">
                          <a:effectLst/>
                          <a:latin typeface="Segoe UI" panose="020B0502040204020203" pitchFamily="34" charset="0"/>
                        </a:rPr>
                        <a:t>Return Results</a:t>
                      </a:r>
                      <a:br>
                        <a:rPr lang="en-US" sz="14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1400" b="0" i="0">
                          <a:effectLst/>
                          <a:latin typeface="Segoe UI" panose="020B0502040204020203" pitchFamily="34" charset="0"/>
                        </a:rPr>
                        <a:t>PostgreSQL returns the top </a:t>
                      </a:r>
                      <a:r>
                        <a:rPr lang="en-US" sz="1400" b="0" i="0">
                          <a:effectLst/>
                          <a:latin typeface="Courier New" panose="02070309020205020404" pitchFamily="49" charset="0"/>
                        </a:rPr>
                        <a:t>k</a:t>
                      </a:r>
                      <a:r>
                        <a:rPr lang="en-US" sz="1400" b="0" i="0">
                          <a:effectLst/>
                          <a:latin typeface="Segoe UI" panose="020B0502040204020203" pitchFamily="34" charset="0"/>
                        </a:rPr>
                        <a:t> most similar rows based on vector similarity. LangChain wraps them as </a:t>
                      </a:r>
                      <a:r>
                        <a:rPr lang="en-US" sz="1400" b="0" i="0">
                          <a:effectLst/>
                          <a:latin typeface="Courier New" panose="02070309020205020404" pitchFamily="49" charset="0"/>
                        </a:rPr>
                        <a:t>Document</a:t>
                      </a:r>
                      <a:r>
                        <a:rPr lang="en-US" sz="1400" b="0" i="0">
                          <a:effectLst/>
                          <a:latin typeface="Segoe UI" panose="020B0502040204020203" pitchFamily="34" charset="0"/>
                        </a:rPr>
                        <a:t> objects with </a:t>
                      </a:r>
                      <a:r>
                        <a:rPr lang="en-US" sz="1400" b="0" i="0">
                          <a:effectLst/>
                          <a:latin typeface="Courier New" panose="02070309020205020404" pitchFamily="49" charset="0"/>
                        </a:rPr>
                        <a:t>page_content</a:t>
                      </a:r>
                      <a:r>
                        <a:rPr lang="en-US" sz="1400" b="0" i="0">
                          <a:effectLst/>
                          <a:latin typeface="Segoe UI" panose="020B0502040204020203" pitchFamily="34" charset="0"/>
                        </a:rPr>
                        <a:t> and </a:t>
                      </a:r>
                      <a:r>
                        <a:rPr lang="en-US" sz="1400" b="0" i="0">
                          <a:effectLst/>
                          <a:latin typeface="Courier New" panose="02070309020205020404" pitchFamily="49" charset="0"/>
                        </a:rPr>
                        <a:t>metadata</a:t>
                      </a:r>
                      <a:r>
                        <a:rPr lang="en-US" sz="1400" b="0" i="0">
                          <a:effectLst/>
                          <a:latin typeface="Segoe UI" panose="020B0502040204020203" pitchFamily="34" charset="0"/>
                        </a:rPr>
                        <a:t>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400" b="0" i="0">
                          <a:effectLst/>
                          <a:latin typeface="Segoe UI" panose="020B0502040204020203" pitchFamily="34" charset="0"/>
                        </a:rPr>
                        <a:t>✅ So yes, the similarity search is </a:t>
                      </a:r>
                      <a:r>
                        <a:rPr lang="en-US" sz="1400" b="1" i="0">
                          <a:effectLst/>
                          <a:latin typeface="Segoe UI" panose="020B0502040204020203" pitchFamily="34" charset="0"/>
                        </a:rPr>
                        <a:t>executed in the database</a:t>
                      </a:r>
                      <a:r>
                        <a:rPr lang="en-US" sz="1400" b="0" i="0">
                          <a:effectLst/>
                          <a:latin typeface="Segoe UI" panose="020B0502040204020203" pitchFamily="34" charset="0"/>
                        </a:rPr>
                        <a:t>, not in memory. This is why adding the </a:t>
                      </a:r>
                      <a:r>
                        <a:rPr lang="en-US" sz="1400" b="1" i="0">
                          <a:effectLst/>
                          <a:latin typeface="Segoe UI" panose="020B0502040204020203" pitchFamily="34" charset="0"/>
                        </a:rPr>
                        <a:t>IVFFLAT index</a:t>
                      </a:r>
                      <a:r>
                        <a:rPr lang="en-US" sz="1400" b="0" i="0">
                          <a:effectLst/>
                          <a:latin typeface="Segoe UI" panose="020B0502040204020203" pitchFamily="34" charset="0"/>
                        </a:rPr>
                        <a:t> improves performance for large datasets.</a:t>
                      </a:r>
                    </a:p>
                  </a:txBody>
                  <a:tcPr marL="69523" marR="69523" marT="34762" marB="34762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871851"/>
                  </a:ext>
                </a:extLst>
              </a:tr>
              <a:tr h="346588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523" marR="69523" marT="34762" marB="34762"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1201115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33014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screen&#10;&#10;AI-generated content may be incorrect.">
            <a:extLst>
              <a:ext uri="{FF2B5EF4-FFF2-40B4-BE49-F238E27FC236}">
                <a16:creationId xmlns:a16="http://schemas.microsoft.com/office/drawing/2014/main" id="{10B4335B-1928-B907-0958-986D0D9BB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370667"/>
            <a:ext cx="5291666" cy="2116666"/>
          </a:xfrm>
          <a:prstGeom prst="rect">
            <a:avLst/>
          </a:prstGeom>
        </p:spPr>
      </p:pic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8EDCB0F-2493-8D11-BBD5-38C4729C80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56865" y="2377282"/>
            <a:ext cx="5291667" cy="2103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183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3B0432-4330-B92E-7DF4-3C330BB69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Similarity Search results </a:t>
            </a:r>
          </a:p>
        </p:txBody>
      </p:sp>
      <p:pic>
        <p:nvPicPr>
          <p:cNvPr id="5" name="Content Placeholder 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0C7CDF04-6A0A-D8A2-5150-47BFB264A3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3900" y="2542058"/>
            <a:ext cx="10744200" cy="3572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7207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7A5F444-7656-7D04-0EC3-D3771B73AE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0200" y="643466"/>
            <a:ext cx="7631599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077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F6DC6-8013-517E-DD2C-AB4357AD7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FC641-0E99-B469-2F62-022665221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B56D6A75-76DF-B1EB-DE76-06EAF7B9D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133" y="1825625"/>
            <a:ext cx="7953375" cy="324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2150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F25DA06-55F7-B3BE-DF43-C21A610D99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431" r="1" b="1"/>
          <a:stretch>
            <a:fillRect/>
          </a:stretch>
        </p:blipFill>
        <p:spPr>
          <a:xfrm>
            <a:off x="643467" y="2408791"/>
            <a:ext cx="5294716" cy="2040416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omputer screen shot of a computer screen&#10;&#10;AI-generated content may be incorrect.">
            <a:extLst>
              <a:ext uri="{FF2B5EF4-FFF2-40B4-BE49-F238E27FC236}">
                <a16:creationId xmlns:a16="http://schemas.microsoft.com/office/drawing/2014/main" id="{6BAD393D-7150-76F0-2789-D36461235F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67" r="2256" b="-1"/>
          <a:stretch>
            <a:fillRect/>
          </a:stretch>
        </p:blipFill>
        <p:spPr>
          <a:xfrm>
            <a:off x="6253817" y="2125040"/>
            <a:ext cx="5294715" cy="260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5853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21D15-E5C4-53EA-D35D-C0E0BC50B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40BF0-0E95-2A86-95C8-413A570CE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{ "content": "Source: {'page': 51, 'title': '</a:t>
            </a:r>
            <a:r>
              <a:rPr lang="en-US" dirty="0" err="1"/>
              <a:t>us_main.book.book</a:t>
            </a:r>
            <a:r>
              <a:rPr lang="en-US" dirty="0"/>
              <a:t>', 'author': '</a:t>
            </a:r>
            <a:r>
              <a:rPr lang="en-US" dirty="0" err="1"/>
              <a:t>inyou.park</a:t>
            </a:r>
            <a:r>
              <a:rPr lang="en-US" dirty="0"/>
              <a:t>', 'source': 'C:\\\\Users\\\\</a:t>
            </a:r>
            <a:r>
              <a:rPr lang="en-US" dirty="0" err="1"/>
              <a:t>haris</a:t>
            </a:r>
            <a:r>
              <a:rPr lang="en-US" dirty="0"/>
              <a:t>\\\\Downloads\\\\Rag\\\\FrenchDoor.pdf', 'creator': 'FrameMaker 2017.0.4', '</a:t>
            </a:r>
            <a:r>
              <a:rPr lang="en-US" dirty="0" err="1"/>
              <a:t>moddate</a:t>
            </a:r>
            <a:r>
              <a:rPr lang="en-US" dirty="0"/>
              <a:t>': '2021-01-04T10:12:14+09:00', 'producer': 'Acrobat Distiller 20.0 (Windows)', '</a:t>
            </a:r>
            <a:r>
              <a:rPr lang="en-US" dirty="0" err="1"/>
              <a:t>page_label</a:t>
            </a:r>
            <a:r>
              <a:rPr lang="en-US" dirty="0"/>
              <a:t>': '52', '</a:t>
            </a:r>
            <a:r>
              <a:rPr lang="en-US" dirty="0" err="1"/>
              <a:t>total_pages</a:t>
            </a:r>
            <a:r>
              <a:rPr lang="en-US" dirty="0"/>
              <a:t>': 68, '</a:t>
            </a:r>
            <a:r>
              <a:rPr lang="en-US" dirty="0" err="1"/>
              <a:t>creationdate</a:t>
            </a:r>
            <a:r>
              <a:rPr lang="en-US" dirty="0"/>
              <a:t>': '2020-12-28T16:54:51+00:00'}\</a:t>
            </a:r>
            <a:r>
              <a:rPr lang="en-US" dirty="0" err="1"/>
              <a:t>nContent</a:t>
            </a:r>
            <a:r>
              <a:rPr lang="en-US" dirty="0"/>
              <a:t>: effect.\</a:t>
            </a:r>
            <a:r>
              <a:rPr lang="en-US" dirty="0" err="1"/>
              <a:t>nDoors</a:t>
            </a:r>
            <a:r>
              <a:rPr lang="en-US" dirty="0"/>
              <a:t> are not closed correctly.\n• See the \"Doors will not close correctly or pop open\" section in the Troubleshooting.\</a:t>
            </a:r>
            <a:r>
              <a:rPr lang="en-US" dirty="0" err="1"/>
              <a:t>nTemperature</a:t>
            </a:r>
            <a:r>
              <a:rPr lang="en-US" dirty="0"/>
              <a:t> control is not set correctly.\n• If the temperature is too warm, adjust the control one increment at a time and wait for the \</a:t>
            </a:r>
            <a:r>
              <a:rPr lang="en-US" dirty="0" err="1"/>
              <a:t>ntemperature</a:t>
            </a:r>
            <a:r>
              <a:rPr lang="en-US" dirty="0"/>
              <a:t> to stabilize.\</a:t>
            </a:r>
            <a:r>
              <a:rPr lang="en-US" dirty="0" err="1"/>
              <a:t>nDefrost</a:t>
            </a:r>
            <a:r>
              <a:rPr lang="en-US" dirty="0"/>
              <a:t> cycle has recently completed.\n• During the defrost cycle, the temperature of each compartment may rise slightly and \</a:t>
            </a:r>
            <a:r>
              <a:rPr lang="en-US" dirty="0" err="1"/>
              <a:t>ncondensation</a:t>
            </a:r>
            <a:r>
              <a:rPr lang="en-US" dirty="0"/>
              <a:t> may form on the back wall. Wait 30 minutes and confirm the proper \</a:t>
            </a:r>
            <a:r>
              <a:rPr lang="en-US" dirty="0" err="1"/>
              <a:t>ntemperature</a:t>
            </a:r>
            <a:r>
              <a:rPr lang="en-US" dirty="0"/>
              <a:t> has been restored once the defrost cycle has completed.\</a:t>
            </a:r>
            <a:r>
              <a:rPr lang="en-US" dirty="0" err="1"/>
              <a:t>nProblem</a:t>
            </a:r>
            <a:r>
              <a:rPr lang="en-US" dirty="0"/>
              <a:t> Possible Cause &amp; Solution", "metadata": { "</a:t>
            </a:r>
            <a:r>
              <a:rPr lang="en-US" dirty="0" err="1"/>
              <a:t>retrieved_chunks</a:t>
            </a:r>
            <a:r>
              <a:rPr lang="en-US" dirty="0"/>
              <a:t>": [ { "page": 51, "title": "</a:t>
            </a:r>
            <a:r>
              <a:rPr lang="en-US" dirty="0" err="1"/>
              <a:t>us_main.book.book</a:t>
            </a:r>
            <a:r>
              <a:rPr lang="en-US" dirty="0"/>
              <a:t>", "author": "</a:t>
            </a:r>
            <a:r>
              <a:rPr lang="en-US" dirty="0" err="1"/>
              <a:t>inyou.park</a:t>
            </a:r>
            <a:r>
              <a:rPr lang="en-US" dirty="0"/>
              <a:t>", "source": "C:\\Users\\haris\\Downloads\\Rag\\FrenchDoor.pdf", "creator": "FrameMaker 2017.0.4", "</a:t>
            </a:r>
            <a:r>
              <a:rPr lang="en-US" dirty="0" err="1"/>
              <a:t>moddate</a:t>
            </a:r>
            <a:r>
              <a:rPr lang="en-US" dirty="0"/>
              <a:t>": "2021-01-04T10:12:14+09:00", "producer": "Acrobat Distiller 20.0 (Windows)", "</a:t>
            </a:r>
            <a:r>
              <a:rPr lang="en-US" dirty="0" err="1"/>
              <a:t>page_label</a:t>
            </a:r>
            <a:r>
              <a:rPr lang="en-US" dirty="0"/>
              <a:t>": "52", "</a:t>
            </a:r>
            <a:r>
              <a:rPr lang="en-US" dirty="0" err="1"/>
              <a:t>total_pages</a:t>
            </a:r>
            <a:r>
              <a:rPr lang="en-US" dirty="0"/>
              <a:t>": 68, "</a:t>
            </a:r>
            <a:r>
              <a:rPr lang="en-US" dirty="0" err="1"/>
              <a:t>creationdate</a:t>
            </a:r>
            <a:r>
              <a:rPr lang="en-US" dirty="0"/>
              <a:t>": "2020-12-28T16:54:51+00:00" } ] }, "</a:t>
            </a:r>
            <a:r>
              <a:rPr lang="en-US" dirty="0" err="1"/>
              <a:t>confidence_score</a:t>
            </a:r>
            <a:r>
              <a:rPr lang="en-US" dirty="0"/>
              <a:t>": 0.95 }</a:t>
            </a:r>
          </a:p>
        </p:txBody>
      </p:sp>
    </p:spTree>
    <p:extLst>
      <p:ext uri="{BB962C8B-B14F-4D97-AF65-F5344CB8AC3E}">
        <p14:creationId xmlns:p14="http://schemas.microsoft.com/office/powerpoint/2010/main" val="34316346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0645FE5-EBAF-AD6F-5394-29AB07195A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493350"/>
            <a:ext cx="10905066" cy="3871298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370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2F0A0-35CC-864A-35B6-4B4F15BB5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2 Ai Messages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45B66F7-8336-078B-5276-4EEE26ECCB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5620" y="1825625"/>
            <a:ext cx="590075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4133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15331-4C65-A2C7-0297-FD7D3F11C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EA63247-2B03-E137-D61D-D78D843FE6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4528" y="1825625"/>
            <a:ext cx="720294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676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3488</TotalTime>
  <Words>579</Words>
  <Application>Microsoft Office PowerPoint</Application>
  <PresentationFormat>Widescreen</PresentationFormat>
  <Paragraphs>33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Courier New</vt:lpstr>
      <vt:lpstr>Segoe UI</vt:lpstr>
      <vt:lpstr>Office Theme</vt:lpstr>
      <vt:lpstr>LG Rag Agent</vt:lpstr>
      <vt:lpstr>PowerPoint Presentation</vt:lpstr>
      <vt:lpstr>Load Document</vt:lpstr>
      <vt:lpstr>PowerPoint Presentation</vt:lpstr>
      <vt:lpstr>Creating vector store</vt:lpstr>
      <vt:lpstr>Install pgvec</vt:lpstr>
      <vt:lpstr>PowerPoint Presentation</vt:lpstr>
      <vt:lpstr>Vector store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Similarity Search results </vt:lpstr>
      <vt:lpstr>PowerPoint Presentation</vt:lpstr>
      <vt:lpstr>issues</vt:lpstr>
      <vt:lpstr>PowerPoint Presentation</vt:lpstr>
      <vt:lpstr>PowerPoint Presentation</vt:lpstr>
      <vt:lpstr>PowerPoint Presentation</vt:lpstr>
      <vt:lpstr>2 Ai Messages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Harish Kumar Anandan</dc:creator>
  <cp:lastModifiedBy>Harish Kumar Anandan</cp:lastModifiedBy>
  <cp:revision>6</cp:revision>
  <dcterms:created xsi:type="dcterms:W3CDTF">2025-12-16T23:34:48Z</dcterms:created>
  <dcterms:modified xsi:type="dcterms:W3CDTF">2025-12-19T18:48:39Z</dcterms:modified>
</cp:coreProperties>
</file>